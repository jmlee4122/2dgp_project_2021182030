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B45CB8-7D23-88DB-6228-057B6FD712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9066DD3-3D12-83B4-240B-788C1BB205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03B0B5-3017-11AF-0E8D-1F2444530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E8055-242F-47E9-AB05-91FD8B20A768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542211-BD9F-6D5B-0889-3785865E9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02202E-B327-44E0-31B6-0FFFC2FA1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EC2F-5109-4C8E-A2DA-D1A851C480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9724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ED0E75-EECA-0C31-1A10-7ACA2F70A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01760A-FC09-365B-594C-9E355484F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9E0C82-F75F-5A54-3EF0-6677B6AE9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E8055-242F-47E9-AB05-91FD8B20A768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C20D0C-E9D2-92FA-AD40-0EDCECF3B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E5B777-3363-F21C-908E-81BD4C737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EC2F-5109-4C8E-A2DA-D1A851C480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518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69C17A-5CD8-74E6-DFB2-52B65248A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EB1FD5-07AE-68D5-0A72-951EA00D0C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1F003E-2312-1F39-FA2B-0C0FB432A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E8055-242F-47E9-AB05-91FD8B20A768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571D61-B66D-EA15-1C8A-BCCAF72C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096CAB-6B53-B210-035B-2E0A00C32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EC2F-5109-4C8E-A2DA-D1A851C480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500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37AF8B-6A54-C6C9-A2C9-69239E4E7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D320EA-99EC-8FEC-DE03-008713300C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D63543C-6619-3396-CE7C-18C5A4C031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89D1829-2E28-AAEA-B71C-3E5B5EDAA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E8055-242F-47E9-AB05-91FD8B20A768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0C47E1-43C9-80B2-EB03-99A7FFF0F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FBC2F8-9EA6-1A0A-5EA9-85AA9C1C1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EC2F-5109-4C8E-A2DA-D1A851C480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5017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8C9B3E-372E-0B9E-CD3C-F3E12C933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CB16D2-6F38-BA4D-33AB-67750F049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B6BCF2-0C38-F1A6-D76C-32096BB79F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2AA6E36-E6D0-C2BB-6273-66B499188D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D5F1992-3508-5BD1-AF77-2BF865A3A3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70A97D2-8C9E-D5F1-11D8-1466D82A7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E8055-242F-47E9-AB05-91FD8B20A768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966CD18-44B8-76E2-48BB-3E4C7C9EA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C38CD0D-CD34-5BD7-E31C-A092169A7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EC2F-5109-4C8E-A2DA-D1A851C480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2035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DB0938-A239-D892-470E-D0A95F9BB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C73C3B9-0631-ACD0-ECD7-F24087EF5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E8055-242F-47E9-AB05-91FD8B20A768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4643A26-D649-E64A-8A79-E7EAFF8B7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93D04E5-C493-287B-2B82-103214463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EC2F-5109-4C8E-A2DA-D1A851C480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9865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8172E08-1AF4-D006-6FBE-858E0F337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E8055-242F-47E9-AB05-91FD8B20A768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292BA0F-8A62-111F-22E3-7E345BCE0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989ABD-116B-E410-5DBD-809A9B316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EC2F-5109-4C8E-A2DA-D1A851C480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069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DE97E7-998C-0616-C265-18AB6C3F6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4E380D-3395-3D06-EDAF-9783C02655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55F088C-36AE-404B-8D16-F53251291D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F298C2B-A1E8-D359-42CE-B458569BB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E8055-242F-47E9-AB05-91FD8B20A768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453F38B-F35F-0B68-9BDA-943053EF7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CA49288-11C0-36BF-A4BA-34D2B3F4A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EC2F-5109-4C8E-A2DA-D1A851C480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63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2798E9-15D3-8214-4FC7-88FE73365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192EF9C-9FAF-B97F-EBDC-F9F2355A8C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AE42893-CF25-4597-4BE4-7C9E9A1D01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F2A61F4-E310-097E-5226-D25916F04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E8055-242F-47E9-AB05-91FD8B20A768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3745C58-8E4C-DFF5-EC4E-2F0747509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9C29B39-80F6-9453-CD66-4A3FB2EE6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EC2F-5109-4C8E-A2DA-D1A851C480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4718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F414AB-2BA7-B2D3-00F7-5BBBF6C86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7C7C4B0-17FA-0272-5110-D558FA3083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656B24-180D-DFAD-4FD4-FBB3E2B7B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E8055-242F-47E9-AB05-91FD8B20A768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0C03C1-745D-6F65-82C1-76FBBD576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0F29DB-2D81-CDD2-5520-B4CA0876C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EC2F-5109-4C8E-A2DA-D1A851C480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7177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DF9E090-4974-D6ED-9DA9-A668753A2E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0ED7258-C492-2125-E714-CAC2A800C4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2257C0-7783-CE8C-D5AB-CE007F27D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E8055-242F-47E9-AB05-91FD8B20A768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E526DB-0EA9-E5D9-AA5D-AE2D4BA2B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E28A4D-FB36-7C58-01D4-A922D9464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EC2F-5109-4C8E-A2DA-D1A851C480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659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6F6BF61-8A2F-E8D7-FE23-FF82DD75E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53E814-B661-B634-F28C-EAE612997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FAF6C6-329C-1FB2-E6AC-854C2E5819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4E8055-242F-47E9-AB05-91FD8B20A768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E542E2-1BF6-506A-4F4A-C4759D4186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9A1856-8E7C-2644-EB4D-0C9DA38B41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7AEC2F-5109-4C8E-A2DA-D1A851C480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5380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176F3C-02A7-0A05-C0EA-224D243034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/>
              <a:t>2DGP – 2</a:t>
            </a:r>
            <a:r>
              <a:rPr lang="ko-KR" altLang="en-US" b="1" dirty="0"/>
              <a:t>차 발표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DEC9386-1A2D-AEFB-F8B7-A1FA3DC1FB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b"/>
          <a:lstStyle/>
          <a:p>
            <a:pPr algn="r"/>
            <a:r>
              <a:rPr lang="en-US" altLang="ko-KR" dirty="0"/>
              <a:t>2021182030 </a:t>
            </a:r>
            <a:r>
              <a:rPr lang="ko-KR" altLang="en-US" dirty="0"/>
              <a:t>이재민</a:t>
            </a:r>
          </a:p>
        </p:txBody>
      </p:sp>
    </p:spTree>
    <p:extLst>
      <p:ext uri="{BB962C8B-B14F-4D97-AF65-F5344CB8AC3E}">
        <p14:creationId xmlns:p14="http://schemas.microsoft.com/office/powerpoint/2010/main" val="2436379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F38784-FF01-7EEB-6970-91DA048BC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개발 변경 내용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610BE56E-77C3-64AE-A6FE-AC91C279FE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8806613"/>
              </p:ext>
            </p:extLst>
          </p:nvPr>
        </p:nvGraphicFramePr>
        <p:xfrm>
          <a:off x="838203" y="1690688"/>
          <a:ext cx="10515597" cy="31172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392">
                  <a:extLst>
                    <a:ext uri="{9D8B030D-6E8A-4147-A177-3AD203B41FA5}">
                      <a16:colId xmlns:a16="http://schemas.microsoft.com/office/drawing/2014/main" val="2304985297"/>
                    </a:ext>
                  </a:extLst>
                </a:gridCol>
                <a:gridCol w="3646099">
                  <a:extLst>
                    <a:ext uri="{9D8B030D-6E8A-4147-A177-3AD203B41FA5}">
                      <a16:colId xmlns:a16="http://schemas.microsoft.com/office/drawing/2014/main" val="2236662859"/>
                    </a:ext>
                  </a:extLst>
                </a:gridCol>
                <a:gridCol w="4096106">
                  <a:extLst>
                    <a:ext uri="{9D8B030D-6E8A-4147-A177-3AD203B41FA5}">
                      <a16:colId xmlns:a16="http://schemas.microsoft.com/office/drawing/2014/main" val="635592247"/>
                    </a:ext>
                  </a:extLst>
                </a:gridCol>
              </a:tblGrid>
              <a:tr h="38540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기존 아이디어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변경 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변경 이유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23409"/>
                  </a:ext>
                </a:extLst>
              </a:tr>
              <a:tr h="136593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/>
                        <a:t>윗</a:t>
                      </a:r>
                      <a:r>
                        <a:rPr lang="ko-KR" altLang="en-US" sz="1400" dirty="0"/>
                        <a:t> 방향키를 이용한 캐릭터 </a:t>
                      </a:r>
                      <a:r>
                        <a:rPr lang="ko-KR" altLang="en-US" sz="1400" b="1" dirty="0"/>
                        <a:t>점프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점프를 없애고 아래 방향키로 </a:t>
                      </a:r>
                      <a:r>
                        <a:rPr lang="ko-KR" altLang="en-US" sz="1400" b="1" dirty="0"/>
                        <a:t>숙이기</a:t>
                      </a:r>
                      <a:r>
                        <a:rPr lang="ko-KR" altLang="en-US" sz="1400" dirty="0"/>
                        <a:t> 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적 캐릭터의 공격을 더 확실히 직관적으로 피할 수 있다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3039842"/>
                  </a:ext>
                </a:extLst>
              </a:tr>
              <a:tr h="136593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적 캐릭터의 </a:t>
                      </a:r>
                      <a:r>
                        <a:rPr lang="ko-KR" altLang="en-US" sz="1400" b="1" dirty="0"/>
                        <a:t>움직임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적 캐릭터는 </a:t>
                      </a:r>
                      <a:r>
                        <a:rPr lang="ko-KR" altLang="en-US" sz="1400" b="1" dirty="0"/>
                        <a:t>고정</a:t>
                      </a:r>
                      <a:r>
                        <a:rPr lang="ko-KR" altLang="en-US" sz="1400" dirty="0"/>
                        <a:t>된 위치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적 캐릭터가 움직이면 게임이 </a:t>
                      </a:r>
                      <a:r>
                        <a:rPr lang="ko-KR" altLang="en-US" sz="1400" dirty="0" err="1"/>
                        <a:t>난잡해진다고</a:t>
                      </a:r>
                      <a:r>
                        <a:rPr lang="ko-KR" altLang="en-US" sz="1400" dirty="0"/>
                        <a:t> 느꼈다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9311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4572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091CB6-438B-AD26-DEAA-EB633F520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개발 계획 대비 현재 진행 상황</a:t>
            </a:r>
          </a:p>
        </p:txBody>
      </p:sp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5624E1C1-58FA-F754-977F-9A15FAF93E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4217990"/>
              </p:ext>
            </p:extLst>
          </p:nvPr>
        </p:nvGraphicFramePr>
        <p:xfrm>
          <a:off x="2042581" y="1443309"/>
          <a:ext cx="8106838" cy="525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9819">
                  <a:extLst>
                    <a:ext uri="{9D8B030D-6E8A-4147-A177-3AD203B41FA5}">
                      <a16:colId xmlns:a16="http://schemas.microsoft.com/office/drawing/2014/main" val="1534034471"/>
                    </a:ext>
                  </a:extLst>
                </a:gridCol>
                <a:gridCol w="991926">
                  <a:extLst>
                    <a:ext uri="{9D8B030D-6E8A-4147-A177-3AD203B41FA5}">
                      <a16:colId xmlns:a16="http://schemas.microsoft.com/office/drawing/2014/main" val="3574059000"/>
                    </a:ext>
                  </a:extLst>
                </a:gridCol>
                <a:gridCol w="5373977">
                  <a:extLst>
                    <a:ext uri="{9D8B030D-6E8A-4147-A177-3AD203B41FA5}">
                      <a16:colId xmlns:a16="http://schemas.microsoft.com/office/drawing/2014/main" val="661790763"/>
                    </a:ext>
                  </a:extLst>
                </a:gridCol>
                <a:gridCol w="1011116">
                  <a:extLst>
                    <a:ext uri="{9D8B030D-6E8A-4147-A177-3AD203B41FA5}">
                      <a16:colId xmlns:a16="http://schemas.microsoft.com/office/drawing/2014/main" val="1915617497"/>
                    </a:ext>
                  </a:extLst>
                </a:gridCol>
              </a:tblGrid>
              <a:tr h="26189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 dirty="0"/>
                        <a:t>주차</a:t>
                      </a:r>
                    </a:p>
                  </a:txBody>
                  <a:tcPr marL="64576" marR="64576" marT="32288" marB="32288"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300" b="1" dirty="0"/>
                    </a:p>
                  </a:txBody>
                  <a:tcPr marL="64576" marR="64576" marT="32288" marB="32288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300" dirty="0"/>
                    </a:p>
                  </a:txBody>
                  <a:tcPr marL="64576" marR="64576" marT="32288" marB="32288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 dirty="0"/>
                        <a:t>진행률</a:t>
                      </a:r>
                    </a:p>
                  </a:txBody>
                  <a:tcPr marL="64576" marR="64576" marT="32288" marB="32288"/>
                </a:tc>
                <a:extLst>
                  <a:ext uri="{0D108BD9-81ED-4DB2-BD59-A6C34878D82A}">
                    <a16:rowId xmlns:a16="http://schemas.microsoft.com/office/drawing/2014/main" val="2069921887"/>
                  </a:ext>
                </a:extLst>
              </a:tr>
              <a:tr h="261892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300" b="1" dirty="0"/>
                        <a:t>1</a:t>
                      </a:r>
                      <a:r>
                        <a:rPr lang="ko-KR" altLang="en-US" sz="1300" b="1" dirty="0"/>
                        <a:t>주차</a:t>
                      </a:r>
                    </a:p>
                  </a:txBody>
                  <a:tcPr marL="64576" marR="64576" marT="32288" marB="32288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/>
                        <a:t>계획</a:t>
                      </a:r>
                    </a:p>
                  </a:txBody>
                  <a:tcPr marL="64576" marR="64576" marT="32288" marB="32288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 dirty="0"/>
                        <a:t>스테이지 생성</a:t>
                      </a:r>
                    </a:p>
                  </a:txBody>
                  <a:tcPr marL="64576" marR="64576" marT="32288" marB="32288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/>
                        <a:t>100%</a:t>
                      </a:r>
                      <a:endParaRPr lang="ko-KR" altLang="en-US" sz="1300" b="1" dirty="0"/>
                    </a:p>
                  </a:txBody>
                  <a:tcPr marL="64576" marR="64576" marT="32288" marB="32288" anchor="ctr"/>
                </a:tc>
                <a:extLst>
                  <a:ext uri="{0D108BD9-81ED-4DB2-BD59-A6C34878D82A}">
                    <a16:rowId xmlns:a16="http://schemas.microsoft.com/office/drawing/2014/main" val="2572668670"/>
                  </a:ext>
                </a:extLst>
              </a:tr>
              <a:tr h="261892">
                <a:tc vMerge="1">
                  <a:txBody>
                    <a:bodyPr/>
                    <a:lstStyle/>
                    <a:p>
                      <a:pPr latinLnBrk="1"/>
                      <a:endParaRPr lang="ko-KR" altLang="en-US" sz="1300" dirty="0"/>
                    </a:p>
                  </a:txBody>
                  <a:tcPr marL="64576" marR="64576" marT="32288" marB="32288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/>
                        <a:t>결과</a:t>
                      </a:r>
                    </a:p>
                  </a:txBody>
                  <a:tcPr marL="64576" marR="64576" marT="32288" marB="32288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/>
                        <a:t>스테이지 </a:t>
                      </a:r>
                      <a:r>
                        <a:rPr lang="en-US" altLang="ko-KR" sz="1300" dirty="0"/>
                        <a:t>1, 2, 3 </a:t>
                      </a:r>
                      <a:r>
                        <a:rPr lang="ko-KR" altLang="en-US" sz="1300" dirty="0"/>
                        <a:t>배경 그리기 완료</a:t>
                      </a:r>
                    </a:p>
                  </a:txBody>
                  <a:tcPr marL="64576" marR="64576" marT="32288" marB="32288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4576" marR="64576" marT="32288" marB="32288"/>
                </a:tc>
                <a:extLst>
                  <a:ext uri="{0D108BD9-81ED-4DB2-BD59-A6C34878D82A}">
                    <a16:rowId xmlns:a16="http://schemas.microsoft.com/office/drawing/2014/main" val="1882393134"/>
                  </a:ext>
                </a:extLst>
              </a:tr>
              <a:tr h="261892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300" b="1" dirty="0"/>
                        <a:t>2</a:t>
                      </a:r>
                      <a:r>
                        <a:rPr lang="ko-KR" altLang="en-US" sz="1300" b="1" dirty="0"/>
                        <a:t>주차</a:t>
                      </a:r>
                    </a:p>
                  </a:txBody>
                  <a:tcPr marL="64576" marR="64576" marT="32288" marB="32288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/>
                        <a:t>계획</a:t>
                      </a:r>
                    </a:p>
                  </a:txBody>
                  <a:tcPr marL="64576" marR="64576" marT="32288" marB="32288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 dirty="0"/>
                        <a:t>메뉴 생성</a:t>
                      </a:r>
                    </a:p>
                  </a:txBody>
                  <a:tcPr marL="64576" marR="64576" marT="32288" marB="32288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/>
                        <a:t>0%</a:t>
                      </a:r>
                      <a:endParaRPr lang="ko-KR" altLang="en-US" sz="1300" b="1" dirty="0"/>
                    </a:p>
                  </a:txBody>
                  <a:tcPr marL="64576" marR="64576" marT="32288" marB="32288" anchor="ctr"/>
                </a:tc>
                <a:extLst>
                  <a:ext uri="{0D108BD9-81ED-4DB2-BD59-A6C34878D82A}">
                    <a16:rowId xmlns:a16="http://schemas.microsoft.com/office/drawing/2014/main" val="4017528085"/>
                  </a:ext>
                </a:extLst>
              </a:tr>
              <a:tr h="261892">
                <a:tc vMerge="1">
                  <a:txBody>
                    <a:bodyPr/>
                    <a:lstStyle/>
                    <a:p>
                      <a:pPr latinLnBrk="1"/>
                      <a:endParaRPr lang="ko-KR" altLang="en-US" sz="1300" dirty="0"/>
                    </a:p>
                  </a:txBody>
                  <a:tcPr marL="64576" marR="64576" marT="32288" marB="32288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/>
                        <a:t>결과</a:t>
                      </a:r>
                    </a:p>
                  </a:txBody>
                  <a:tcPr marL="64576" marR="64576" marT="32288" marB="32288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/>
                        <a:t>미완성</a:t>
                      </a:r>
                      <a:r>
                        <a:rPr lang="en-US" altLang="ko-KR" sz="1300" dirty="0"/>
                        <a:t>, 9</a:t>
                      </a:r>
                      <a:r>
                        <a:rPr lang="ko-KR" altLang="en-US" sz="1300" dirty="0"/>
                        <a:t>주차로 계획 변경</a:t>
                      </a:r>
                    </a:p>
                  </a:txBody>
                  <a:tcPr marL="64576" marR="64576" marT="32288" marB="32288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4576" marR="64576" marT="32288" marB="32288"/>
                </a:tc>
                <a:extLst>
                  <a:ext uri="{0D108BD9-81ED-4DB2-BD59-A6C34878D82A}">
                    <a16:rowId xmlns:a16="http://schemas.microsoft.com/office/drawing/2014/main" val="4245103574"/>
                  </a:ext>
                </a:extLst>
              </a:tr>
              <a:tr h="261892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300" b="1" dirty="0"/>
                        <a:t>3</a:t>
                      </a:r>
                      <a:r>
                        <a:rPr lang="ko-KR" altLang="en-US" sz="1300" b="1" dirty="0"/>
                        <a:t>주차</a:t>
                      </a:r>
                    </a:p>
                  </a:txBody>
                  <a:tcPr marL="64576" marR="64576" marT="32288" marB="32288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/>
                        <a:t>계획</a:t>
                      </a:r>
                    </a:p>
                  </a:txBody>
                  <a:tcPr marL="64576" marR="64576" marT="32288" marB="32288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 dirty="0"/>
                        <a:t>유저 캐릭터 모션 구현</a:t>
                      </a:r>
                    </a:p>
                  </a:txBody>
                  <a:tcPr marL="64576" marR="64576" marT="32288" marB="32288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/>
                        <a:t>100%</a:t>
                      </a:r>
                      <a:endParaRPr lang="ko-KR" altLang="en-US" sz="1300" b="1" dirty="0"/>
                    </a:p>
                  </a:txBody>
                  <a:tcPr marL="64576" marR="64576" marT="32288" marB="32288" anchor="ctr"/>
                </a:tc>
                <a:extLst>
                  <a:ext uri="{0D108BD9-81ED-4DB2-BD59-A6C34878D82A}">
                    <a16:rowId xmlns:a16="http://schemas.microsoft.com/office/drawing/2014/main" val="865541027"/>
                  </a:ext>
                </a:extLst>
              </a:tr>
              <a:tr h="261892">
                <a:tc vMerge="1">
                  <a:txBody>
                    <a:bodyPr/>
                    <a:lstStyle/>
                    <a:p>
                      <a:pPr latinLnBrk="1"/>
                      <a:endParaRPr lang="ko-KR" altLang="en-US" sz="1300" dirty="0"/>
                    </a:p>
                  </a:txBody>
                  <a:tcPr marL="64576" marR="64576" marT="32288" marB="32288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/>
                        <a:t>결과</a:t>
                      </a:r>
                    </a:p>
                  </a:txBody>
                  <a:tcPr marL="64576" marR="64576" marT="32288" marB="3228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/>
                        <a:t>Idle,</a:t>
                      </a:r>
                      <a:r>
                        <a:rPr lang="ko-KR" altLang="en-US" sz="1300" dirty="0"/>
                        <a:t> </a:t>
                      </a:r>
                      <a:r>
                        <a:rPr lang="en-US" altLang="ko-KR" sz="1300" dirty="0"/>
                        <a:t>Run, Down,</a:t>
                      </a:r>
                      <a:r>
                        <a:rPr lang="ko-KR" altLang="en-US" sz="1300" dirty="0"/>
                        <a:t> </a:t>
                      </a:r>
                      <a:r>
                        <a:rPr lang="en-US" altLang="ko-KR" sz="1300" dirty="0"/>
                        <a:t>Death</a:t>
                      </a:r>
                      <a:r>
                        <a:rPr lang="ko-KR" altLang="en-US" sz="1300" dirty="0"/>
                        <a:t> 구현</a:t>
                      </a:r>
                      <a:r>
                        <a:rPr lang="en-US" altLang="ko-KR" sz="1300" dirty="0"/>
                        <a:t> </a:t>
                      </a:r>
                      <a:r>
                        <a:rPr lang="ko-KR" altLang="en-US" sz="1300" dirty="0"/>
                        <a:t>완료</a:t>
                      </a:r>
                    </a:p>
                  </a:txBody>
                  <a:tcPr marL="64576" marR="64576" marT="32288" marB="32288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4576" marR="64576" marT="32288" marB="32288"/>
                </a:tc>
                <a:extLst>
                  <a:ext uri="{0D108BD9-81ED-4DB2-BD59-A6C34878D82A}">
                    <a16:rowId xmlns:a16="http://schemas.microsoft.com/office/drawing/2014/main" val="2972572958"/>
                  </a:ext>
                </a:extLst>
              </a:tr>
              <a:tr h="261892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300" b="1" dirty="0"/>
                        <a:t>4</a:t>
                      </a:r>
                      <a:r>
                        <a:rPr lang="ko-KR" altLang="en-US" sz="1300" b="1" dirty="0"/>
                        <a:t>주차</a:t>
                      </a:r>
                    </a:p>
                  </a:txBody>
                  <a:tcPr marL="64576" marR="64576" marT="32288" marB="32288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/>
                        <a:t>계획</a:t>
                      </a:r>
                    </a:p>
                  </a:txBody>
                  <a:tcPr marL="64576" marR="64576" marT="32288" marB="32288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 dirty="0"/>
                        <a:t>유저 캐릭터 공격 구현</a:t>
                      </a:r>
                    </a:p>
                  </a:txBody>
                  <a:tcPr marL="64576" marR="64576" marT="32288" marB="32288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/>
                        <a:t>100%</a:t>
                      </a:r>
                      <a:endParaRPr lang="ko-KR" altLang="en-US" sz="1300" b="1" dirty="0"/>
                    </a:p>
                  </a:txBody>
                  <a:tcPr marL="64576" marR="64576" marT="32288" marB="32288" anchor="ctr"/>
                </a:tc>
                <a:extLst>
                  <a:ext uri="{0D108BD9-81ED-4DB2-BD59-A6C34878D82A}">
                    <a16:rowId xmlns:a16="http://schemas.microsoft.com/office/drawing/2014/main" val="635084669"/>
                  </a:ext>
                </a:extLst>
              </a:tr>
              <a:tr h="261892">
                <a:tc vMerge="1">
                  <a:txBody>
                    <a:bodyPr/>
                    <a:lstStyle/>
                    <a:p>
                      <a:pPr latinLnBrk="1"/>
                      <a:endParaRPr lang="ko-KR" altLang="en-US" sz="1300" dirty="0"/>
                    </a:p>
                  </a:txBody>
                  <a:tcPr marL="64576" marR="64576" marT="32288" marB="32288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/>
                        <a:t>결과</a:t>
                      </a:r>
                    </a:p>
                  </a:txBody>
                  <a:tcPr marL="64576" marR="64576" marT="32288" marB="3228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/>
                        <a:t>키 입력에 따른 캐릭터의 공격 모션</a:t>
                      </a:r>
                      <a:r>
                        <a:rPr lang="en-US" altLang="ko-KR" sz="1300" dirty="0"/>
                        <a:t>, </a:t>
                      </a:r>
                      <a:r>
                        <a:rPr lang="ko-KR" altLang="en-US" sz="1300" dirty="0"/>
                        <a:t>투사체의 구현 완료</a:t>
                      </a:r>
                    </a:p>
                  </a:txBody>
                  <a:tcPr marL="64576" marR="64576" marT="32288" marB="32288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4576" marR="64576" marT="32288" marB="32288"/>
                </a:tc>
                <a:extLst>
                  <a:ext uri="{0D108BD9-81ED-4DB2-BD59-A6C34878D82A}">
                    <a16:rowId xmlns:a16="http://schemas.microsoft.com/office/drawing/2014/main" val="1840387183"/>
                  </a:ext>
                </a:extLst>
              </a:tr>
              <a:tr h="261892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300" b="1" dirty="0"/>
                        <a:t>5</a:t>
                      </a:r>
                      <a:r>
                        <a:rPr lang="ko-KR" altLang="en-US" sz="1300" b="1" dirty="0"/>
                        <a:t>주차</a:t>
                      </a:r>
                      <a:endParaRPr lang="en-US" altLang="ko-KR" sz="1300" b="1" dirty="0"/>
                    </a:p>
                  </a:txBody>
                  <a:tcPr marL="64576" marR="64576" marT="32288" marB="32288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/>
                        <a:t>계획</a:t>
                      </a:r>
                    </a:p>
                  </a:txBody>
                  <a:tcPr marL="64576" marR="64576" marT="32288" marB="32288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 dirty="0"/>
                        <a:t>적 캐릭터 배치</a:t>
                      </a:r>
                    </a:p>
                  </a:txBody>
                  <a:tcPr marL="64576" marR="64576" marT="32288" marB="32288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/>
                        <a:t>70%</a:t>
                      </a:r>
                      <a:endParaRPr lang="ko-KR" altLang="en-US" sz="1300" b="1" dirty="0"/>
                    </a:p>
                  </a:txBody>
                  <a:tcPr marL="64576" marR="64576" marT="32288" marB="32288" anchor="ctr"/>
                </a:tc>
                <a:extLst>
                  <a:ext uri="{0D108BD9-81ED-4DB2-BD59-A6C34878D82A}">
                    <a16:rowId xmlns:a16="http://schemas.microsoft.com/office/drawing/2014/main" val="35518421"/>
                  </a:ext>
                </a:extLst>
              </a:tr>
              <a:tr h="261892">
                <a:tc vMerge="1">
                  <a:txBody>
                    <a:bodyPr/>
                    <a:lstStyle/>
                    <a:p>
                      <a:pPr latinLnBrk="1"/>
                      <a:endParaRPr lang="ko-KR" altLang="en-US" sz="1300" dirty="0"/>
                    </a:p>
                  </a:txBody>
                  <a:tcPr marL="64576" marR="64576" marT="32288" marB="32288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/>
                        <a:t>결과</a:t>
                      </a:r>
                    </a:p>
                  </a:txBody>
                  <a:tcPr marL="64576" marR="64576" marT="32288" marB="32288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/>
                        <a:t>적 캐릭터의 배치</a:t>
                      </a:r>
                      <a:r>
                        <a:rPr lang="en-US" altLang="ko-KR" sz="1300" dirty="0"/>
                        <a:t> (</a:t>
                      </a:r>
                      <a:r>
                        <a:rPr lang="ko-KR" altLang="en-US" sz="1300" dirty="0"/>
                        <a:t>스테이지 </a:t>
                      </a:r>
                      <a:r>
                        <a:rPr lang="en-US" altLang="ko-KR" sz="1300" dirty="0"/>
                        <a:t>1 </a:t>
                      </a:r>
                      <a:r>
                        <a:rPr lang="ko-KR" altLang="en-US" sz="1300" dirty="0"/>
                        <a:t>에서만 구현</a:t>
                      </a:r>
                      <a:r>
                        <a:rPr lang="en-US" altLang="ko-KR" sz="1300" dirty="0"/>
                        <a:t>) </a:t>
                      </a:r>
                      <a:endParaRPr lang="ko-KR" altLang="en-US" sz="1300" dirty="0"/>
                    </a:p>
                  </a:txBody>
                  <a:tcPr marL="64576" marR="64576" marT="32288" marB="32288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4576" marR="64576" marT="32288" marB="32288"/>
                </a:tc>
                <a:extLst>
                  <a:ext uri="{0D108BD9-81ED-4DB2-BD59-A6C34878D82A}">
                    <a16:rowId xmlns:a16="http://schemas.microsoft.com/office/drawing/2014/main" val="1236889994"/>
                  </a:ext>
                </a:extLst>
              </a:tr>
              <a:tr h="261892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300" b="1" dirty="0"/>
                        <a:t>6</a:t>
                      </a:r>
                      <a:r>
                        <a:rPr lang="ko-KR" altLang="en-US" sz="1300" b="1" dirty="0"/>
                        <a:t>주차</a:t>
                      </a:r>
                    </a:p>
                  </a:txBody>
                  <a:tcPr marL="64576" marR="64576" marT="32288" marB="32288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/>
                        <a:t>계획 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변경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1300" b="1" dirty="0">
                        <a:solidFill>
                          <a:srgbClr val="FF0000"/>
                        </a:solidFill>
                      </a:endParaRPr>
                    </a:p>
                  </a:txBody>
                  <a:tcPr marL="64576" marR="64576" marT="32288" marB="3228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/>
                        <a:t>적 캐릭터 움직임 구현 </a:t>
                      </a:r>
                      <a:r>
                        <a:rPr lang="en-US" altLang="ko-KR" sz="1300" dirty="0"/>
                        <a:t>-&gt; </a:t>
                      </a:r>
                      <a:r>
                        <a:rPr lang="ko-KR" altLang="en-US" sz="1300" b="1" dirty="0"/>
                        <a:t>적 캐릭터 자동 공격 구현</a:t>
                      </a:r>
                    </a:p>
                  </a:txBody>
                  <a:tcPr marL="64576" marR="64576" marT="32288" marB="32288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/>
                        <a:t>70%</a:t>
                      </a:r>
                      <a:endParaRPr lang="ko-KR" altLang="en-US" sz="1300" b="1" dirty="0"/>
                    </a:p>
                  </a:txBody>
                  <a:tcPr marL="64576" marR="64576" marT="32288" marB="32288" anchor="ctr"/>
                </a:tc>
                <a:extLst>
                  <a:ext uri="{0D108BD9-81ED-4DB2-BD59-A6C34878D82A}">
                    <a16:rowId xmlns:a16="http://schemas.microsoft.com/office/drawing/2014/main" val="1305633341"/>
                  </a:ext>
                </a:extLst>
              </a:tr>
              <a:tr h="261892">
                <a:tc vMerge="1">
                  <a:txBody>
                    <a:bodyPr/>
                    <a:lstStyle/>
                    <a:p>
                      <a:pPr latinLnBrk="1"/>
                      <a:endParaRPr lang="ko-KR" altLang="en-US" sz="1300" dirty="0"/>
                    </a:p>
                  </a:txBody>
                  <a:tcPr marL="64576" marR="64576" marT="32288" marB="32288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/>
                        <a:t>결과</a:t>
                      </a:r>
                    </a:p>
                  </a:txBody>
                  <a:tcPr marL="64576" marR="64576" marT="32288" marB="32288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/>
                        <a:t>적 캐릭터의 자동공격 구현 </a:t>
                      </a:r>
                      <a:r>
                        <a:rPr lang="en-US" altLang="ko-KR" sz="1300" dirty="0"/>
                        <a:t>(</a:t>
                      </a:r>
                      <a:r>
                        <a:rPr lang="ko-KR" altLang="en-US" sz="1300" dirty="0"/>
                        <a:t>스테이지 </a:t>
                      </a:r>
                      <a:r>
                        <a:rPr lang="en-US" altLang="ko-KR" sz="1300" dirty="0"/>
                        <a:t>1</a:t>
                      </a:r>
                      <a:r>
                        <a:rPr lang="ko-KR" altLang="en-US" sz="1300" dirty="0"/>
                        <a:t>에서만 구현</a:t>
                      </a:r>
                      <a:r>
                        <a:rPr lang="en-US" altLang="ko-KR" sz="1300" dirty="0"/>
                        <a:t>)</a:t>
                      </a:r>
                      <a:endParaRPr lang="ko-KR" altLang="en-US" sz="1300" dirty="0"/>
                    </a:p>
                  </a:txBody>
                  <a:tcPr marL="64576" marR="64576" marT="32288" marB="32288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4576" marR="64576" marT="32288" marB="32288"/>
                </a:tc>
                <a:extLst>
                  <a:ext uri="{0D108BD9-81ED-4DB2-BD59-A6C34878D82A}">
                    <a16:rowId xmlns:a16="http://schemas.microsoft.com/office/drawing/2014/main" val="457275749"/>
                  </a:ext>
                </a:extLst>
              </a:tr>
              <a:tr h="261892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300" b="1" dirty="0"/>
                        <a:t>7</a:t>
                      </a:r>
                      <a:r>
                        <a:rPr lang="ko-KR" altLang="en-US" sz="1300" b="1" dirty="0"/>
                        <a:t>주차</a:t>
                      </a:r>
                    </a:p>
                  </a:txBody>
                  <a:tcPr marL="64576" marR="64576" marT="32288" marB="32288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/>
                        <a:t>계획 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변경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1300" dirty="0"/>
                    </a:p>
                  </a:txBody>
                  <a:tcPr marL="64576" marR="64576" marT="32288" marB="32288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/>
                        <a:t>적 캐릭터 자동 공격 구현 </a:t>
                      </a:r>
                      <a:r>
                        <a:rPr lang="en-US" altLang="ko-KR" sz="1300" dirty="0"/>
                        <a:t>-&gt; </a:t>
                      </a:r>
                      <a:r>
                        <a:rPr lang="ko-KR" altLang="en-US" sz="1300" b="1" dirty="0"/>
                        <a:t>공격 히트 여부 판정</a:t>
                      </a:r>
                    </a:p>
                  </a:txBody>
                  <a:tcPr marL="64576" marR="64576" marT="32288" marB="32288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/>
                        <a:t>30%</a:t>
                      </a:r>
                      <a:endParaRPr lang="ko-KR" altLang="en-US" sz="1300" b="1" dirty="0"/>
                    </a:p>
                  </a:txBody>
                  <a:tcPr marL="64576" marR="64576" marT="32288" marB="32288" anchor="ctr"/>
                </a:tc>
                <a:extLst>
                  <a:ext uri="{0D108BD9-81ED-4DB2-BD59-A6C34878D82A}">
                    <a16:rowId xmlns:a16="http://schemas.microsoft.com/office/drawing/2014/main" val="1473046698"/>
                  </a:ext>
                </a:extLst>
              </a:tr>
              <a:tr h="261892">
                <a:tc vMerge="1">
                  <a:txBody>
                    <a:bodyPr/>
                    <a:lstStyle/>
                    <a:p>
                      <a:pPr latinLnBrk="1"/>
                      <a:endParaRPr lang="ko-KR" altLang="en-US" sz="1300" dirty="0"/>
                    </a:p>
                  </a:txBody>
                  <a:tcPr marL="64576" marR="64576" marT="32288" marB="32288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/>
                        <a:t>결과</a:t>
                      </a:r>
                    </a:p>
                  </a:txBody>
                  <a:tcPr marL="64576" marR="64576" marT="32288" marB="32288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 err="1"/>
                        <a:t>바운딩</a:t>
                      </a:r>
                      <a:r>
                        <a:rPr lang="ko-KR" altLang="en-US" sz="1300" dirty="0"/>
                        <a:t> 박스 생성 및 그리기까지 완료</a:t>
                      </a:r>
                    </a:p>
                  </a:txBody>
                  <a:tcPr marL="64576" marR="64576" marT="32288" marB="32288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4576" marR="64576" marT="32288" marB="32288"/>
                </a:tc>
                <a:extLst>
                  <a:ext uri="{0D108BD9-81ED-4DB2-BD59-A6C34878D82A}">
                    <a16:rowId xmlns:a16="http://schemas.microsoft.com/office/drawing/2014/main" val="3470016959"/>
                  </a:ext>
                </a:extLst>
              </a:tr>
              <a:tr h="261892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300" b="1" dirty="0"/>
                        <a:t>8</a:t>
                      </a:r>
                      <a:r>
                        <a:rPr lang="ko-KR" altLang="en-US" sz="1300" b="1" dirty="0"/>
                        <a:t>주차</a:t>
                      </a:r>
                    </a:p>
                  </a:txBody>
                  <a:tcPr marL="64576" marR="64576" marT="32288" marB="32288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/>
                        <a:t>계획 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변경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1300" b="1" dirty="0">
                        <a:solidFill>
                          <a:srgbClr val="FF0000"/>
                        </a:solidFill>
                      </a:endParaRPr>
                    </a:p>
                  </a:txBody>
                  <a:tcPr marL="64576" marR="64576" marT="32288" marB="3228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/>
                        <a:t>공격 히트 여부 판정 </a:t>
                      </a:r>
                      <a:r>
                        <a:rPr lang="en-US" altLang="ko-KR" sz="1300" dirty="0"/>
                        <a:t>-&gt; </a:t>
                      </a:r>
                      <a:r>
                        <a:rPr lang="ko-KR" altLang="en-US" sz="1300" b="1" dirty="0"/>
                        <a:t>스테이지 전환 구현</a:t>
                      </a:r>
                    </a:p>
                  </a:txBody>
                  <a:tcPr marL="64576" marR="64576" marT="32288" marB="32288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/>
                        <a:t>0%</a:t>
                      </a:r>
                      <a:endParaRPr lang="ko-KR" altLang="en-US" sz="1300" b="1" dirty="0"/>
                    </a:p>
                  </a:txBody>
                  <a:tcPr marL="64576" marR="64576" marT="32288" marB="32288" anchor="ctr"/>
                </a:tc>
                <a:extLst>
                  <a:ext uri="{0D108BD9-81ED-4DB2-BD59-A6C34878D82A}">
                    <a16:rowId xmlns:a16="http://schemas.microsoft.com/office/drawing/2014/main" val="3452516766"/>
                  </a:ext>
                </a:extLst>
              </a:tr>
              <a:tr h="261892">
                <a:tc vMerge="1">
                  <a:txBody>
                    <a:bodyPr/>
                    <a:lstStyle/>
                    <a:p>
                      <a:pPr latinLnBrk="1"/>
                      <a:endParaRPr lang="ko-KR" altLang="en-US" sz="1300" dirty="0"/>
                    </a:p>
                  </a:txBody>
                  <a:tcPr marL="64576" marR="64576" marT="32288" marB="32288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/>
                        <a:t>결과</a:t>
                      </a:r>
                    </a:p>
                  </a:txBody>
                  <a:tcPr marL="64576" marR="64576" marT="32288" marB="32288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/>
                        <a:t>미완성</a:t>
                      </a:r>
                    </a:p>
                  </a:txBody>
                  <a:tcPr marL="64576" marR="64576" marT="32288" marB="32288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4576" marR="64576" marT="32288" marB="32288"/>
                </a:tc>
                <a:extLst>
                  <a:ext uri="{0D108BD9-81ED-4DB2-BD59-A6C34878D82A}">
                    <a16:rowId xmlns:a16="http://schemas.microsoft.com/office/drawing/2014/main" val="985291392"/>
                  </a:ext>
                </a:extLst>
              </a:tr>
              <a:tr h="261892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300" b="1" dirty="0"/>
                        <a:t>9</a:t>
                      </a:r>
                      <a:r>
                        <a:rPr lang="ko-KR" altLang="en-US" sz="1300" b="1" dirty="0"/>
                        <a:t>주차</a:t>
                      </a:r>
                    </a:p>
                  </a:txBody>
                  <a:tcPr marL="64576" marR="64576" marT="32288" marB="32288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/>
                        <a:t>계획 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300" b="1" dirty="0">
                          <a:solidFill>
                            <a:srgbClr val="FF0000"/>
                          </a:solidFill>
                        </a:rPr>
                        <a:t>변경</a:t>
                      </a:r>
                      <a:r>
                        <a:rPr lang="en-US" altLang="ko-KR" sz="1300" b="1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1300" b="1" dirty="0">
                        <a:solidFill>
                          <a:srgbClr val="FF0000"/>
                        </a:solidFill>
                      </a:endParaRPr>
                    </a:p>
                  </a:txBody>
                  <a:tcPr marL="64576" marR="64576" marT="32288" marB="32288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/>
                        <a:t>공격 히트 여부 판정</a:t>
                      </a:r>
                      <a:r>
                        <a:rPr lang="en-US" altLang="ko-KR" sz="1300" dirty="0"/>
                        <a:t>, UI </a:t>
                      </a:r>
                      <a:r>
                        <a:rPr lang="ko-KR" altLang="en-US" sz="1300" dirty="0"/>
                        <a:t>마무리 </a:t>
                      </a:r>
                      <a:r>
                        <a:rPr lang="en-US" altLang="ko-KR" sz="1300" dirty="0"/>
                        <a:t>-&gt; </a:t>
                      </a:r>
                      <a:r>
                        <a:rPr lang="en-US" altLang="ko-KR" sz="1300" b="1" dirty="0"/>
                        <a:t>UI </a:t>
                      </a:r>
                      <a:r>
                        <a:rPr lang="ko-KR" altLang="en-US" sz="1300" b="1" dirty="0"/>
                        <a:t>마무리</a:t>
                      </a:r>
                    </a:p>
                  </a:txBody>
                  <a:tcPr marL="64576" marR="64576" marT="32288" marB="32288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/>
                        <a:t>0%</a:t>
                      </a:r>
                      <a:endParaRPr lang="ko-KR" altLang="en-US" sz="1300" b="1" dirty="0"/>
                    </a:p>
                  </a:txBody>
                  <a:tcPr marL="64576" marR="64576" marT="32288" marB="32288" anchor="ctr"/>
                </a:tc>
                <a:extLst>
                  <a:ext uri="{0D108BD9-81ED-4DB2-BD59-A6C34878D82A}">
                    <a16:rowId xmlns:a16="http://schemas.microsoft.com/office/drawing/2014/main" val="1383084321"/>
                  </a:ext>
                </a:extLst>
              </a:tr>
              <a:tr h="131348">
                <a:tc vMerge="1">
                  <a:txBody>
                    <a:bodyPr/>
                    <a:lstStyle/>
                    <a:p>
                      <a:pPr latinLnBrk="1"/>
                      <a:endParaRPr lang="ko-KR" altLang="en-US" sz="1300" b="1" dirty="0"/>
                    </a:p>
                  </a:txBody>
                  <a:tcPr marL="64576" marR="64576" marT="32288" marB="32288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/>
                        <a:t>결과</a:t>
                      </a:r>
                    </a:p>
                  </a:txBody>
                  <a:tcPr marL="64576" marR="64576" marT="32288" marB="32288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/>
                        <a:t>미완성</a:t>
                      </a:r>
                    </a:p>
                  </a:txBody>
                  <a:tcPr marL="64576" marR="64576" marT="32288" marB="32288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300" b="1" dirty="0"/>
                    </a:p>
                  </a:txBody>
                  <a:tcPr marL="64576" marR="64576" marT="32288" marB="32288" anchor="ctr"/>
                </a:tc>
                <a:extLst>
                  <a:ext uri="{0D108BD9-81ED-4DB2-BD59-A6C34878D82A}">
                    <a16:rowId xmlns:a16="http://schemas.microsoft.com/office/drawing/2014/main" val="2020837798"/>
                  </a:ext>
                </a:extLst>
              </a:tr>
              <a:tr h="131348">
                <a:tc>
                  <a:txBody>
                    <a:bodyPr/>
                    <a:lstStyle/>
                    <a:p>
                      <a:pPr latinLnBrk="1"/>
                      <a:endParaRPr lang="ko-KR" altLang="en-US" sz="1300" b="1" dirty="0"/>
                    </a:p>
                  </a:txBody>
                  <a:tcPr marL="64576" marR="64576" marT="32288" marB="32288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/>
                    </a:p>
                  </a:txBody>
                  <a:tcPr marL="64576" marR="64576" marT="32288" marB="32288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/>
                    </a:p>
                  </a:txBody>
                  <a:tcPr marL="64576" marR="64576" marT="32288" marB="32288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dirty="0"/>
                        <a:t>평균</a:t>
                      </a:r>
                      <a:r>
                        <a:rPr lang="en-US" altLang="ko-KR" sz="1300" b="1" dirty="0"/>
                        <a:t>: 52.2</a:t>
                      </a:r>
                      <a:endParaRPr lang="ko-KR" altLang="en-US" sz="1300" b="1" dirty="0"/>
                    </a:p>
                  </a:txBody>
                  <a:tcPr marL="64576" marR="64576" marT="32288" marB="32288" anchor="ctr"/>
                </a:tc>
                <a:extLst>
                  <a:ext uri="{0D108BD9-81ED-4DB2-BD59-A6C34878D82A}">
                    <a16:rowId xmlns:a16="http://schemas.microsoft.com/office/drawing/2014/main" val="32442184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4391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A84560-A81B-FEB8-0755-CB6C02900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/>
              <a:t>Github</a:t>
            </a:r>
            <a:r>
              <a:rPr lang="en-US" altLang="ko-KR" b="1" dirty="0"/>
              <a:t> commits </a:t>
            </a:r>
            <a:r>
              <a:rPr lang="ko-KR" altLang="en-US" b="1" dirty="0"/>
              <a:t>통계</a:t>
            </a:r>
          </a:p>
        </p:txBody>
      </p:sp>
      <p:pic>
        <p:nvPicPr>
          <p:cNvPr id="5" name="내용 개체 틀 4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9122C0C-0E4E-3A56-2732-B62E8A7281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607" y="1690688"/>
            <a:ext cx="9082785" cy="4586677"/>
          </a:xfrm>
        </p:spPr>
      </p:pic>
    </p:spTree>
    <p:extLst>
      <p:ext uri="{BB962C8B-B14F-4D97-AF65-F5344CB8AC3E}">
        <p14:creationId xmlns:p14="http://schemas.microsoft.com/office/powerpoint/2010/main" val="4179524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245</Words>
  <Application>Microsoft Office PowerPoint</Application>
  <PresentationFormat>와이드스크린</PresentationFormat>
  <Paragraphs>71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2DGP – 2차 발표</vt:lpstr>
      <vt:lpstr>개발 변경 내용</vt:lpstr>
      <vt:lpstr>개발 계획 대비 현재 진행 상황</vt:lpstr>
      <vt:lpstr>Github commits 통계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jaemin lee</dc:creator>
  <cp:lastModifiedBy>jaemin lee</cp:lastModifiedBy>
  <cp:revision>22</cp:revision>
  <dcterms:created xsi:type="dcterms:W3CDTF">2025-11-11T04:30:53Z</dcterms:created>
  <dcterms:modified xsi:type="dcterms:W3CDTF">2025-11-11T10:29:06Z</dcterms:modified>
</cp:coreProperties>
</file>